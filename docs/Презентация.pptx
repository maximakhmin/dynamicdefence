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1"/>
  </p:sldMasterIdLst>
  <p:notesMasterIdLst>
    <p:notesMasterId r:id="rId19"/>
  </p:notesMasterIdLst>
  <p:sldIdLst>
    <p:sldId id="284" r:id="rId2"/>
    <p:sldId id="307" r:id="rId3"/>
    <p:sldId id="308" r:id="rId4"/>
    <p:sldId id="276" r:id="rId5"/>
    <p:sldId id="292" r:id="rId6"/>
    <p:sldId id="294" r:id="rId7"/>
    <p:sldId id="295" r:id="rId8"/>
    <p:sldId id="296" r:id="rId9"/>
    <p:sldId id="300" r:id="rId10"/>
    <p:sldId id="302" r:id="rId11"/>
    <p:sldId id="303" r:id="rId12"/>
    <p:sldId id="304" r:id="rId13"/>
    <p:sldId id="297" r:id="rId14"/>
    <p:sldId id="298" r:id="rId15"/>
    <p:sldId id="305" r:id="rId16"/>
    <p:sldId id="309" r:id="rId17"/>
    <p:sldId id="260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96"/>
      </p:cViewPr>
      <p:guideLst>
        <p:guide pos="3840"/>
        <p:guide pos="39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B35AD-A08A-47FA-95CA-EE943B6AC266}" type="datetimeFigureOut">
              <a:rPr lang="ru-RU" smtClean="0"/>
              <a:t>03.06.2025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13F3D-7757-462E-8A2D-9AAE87E67D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176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13F3D-7757-462E-8A2D-9AAE87E67DC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143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13F3D-7757-462E-8A2D-9AAE87E67DC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785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13F3D-7757-462E-8A2D-9AAE87E67DC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456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13F3D-7757-462E-8A2D-9AAE87E67DC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197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62AF0-3EE0-4A7C-B237-657ACB462885}" type="datetime1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48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96275-B3B2-4A78-B932-A1651E72A873}" type="datetime1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7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B5C6-CFD3-4260-8200-55DC2141BCFD}" type="datetime1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3671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D72A-0079-4458-B316-95A5432AF311}" type="datetime1">
              <a:rPr lang="ru-RU" smtClean="0"/>
              <a:t>03.06.2025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14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84EF-73AF-42E1-9734-1A2E28FE3BE1}" type="datetime1">
              <a:rPr lang="ru-RU" smtClean="0"/>
              <a:t>03.06.2025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00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8431C-C22D-436C-8A24-26E004B81EFC}" type="datetime1">
              <a:rPr lang="ru-RU" smtClean="0"/>
              <a:t>03.06.2025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46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B70C4-1082-48FF-9077-5DD6322A63D6}" type="datetime1">
              <a:rPr lang="ru-RU" smtClean="0"/>
              <a:t>03.06.2025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059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30B4A-FABC-41D3-8565-BA6C075809E6}" type="datetime1">
              <a:rPr lang="ru-RU" smtClean="0"/>
              <a:t>03.06.2025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5DD72-9D39-48FF-88B0-2FA9C7041551}" type="datetime1">
              <a:rPr lang="ru-RU" smtClean="0"/>
              <a:t>03.06.2025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946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6145D-8380-4AF0-98D4-D0F9584D969B}" type="datetime1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84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34115-6EC2-46D1-B789-F341DD2105D6}" type="datetime1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7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178F5-8E83-4E1D-A788-104FCD27D200}" type="datetime1">
              <a:rPr lang="ru-RU" smtClean="0"/>
              <a:t>03.06.2025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108E5-F9BA-45D3-85ED-51F3CB7216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222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maximakhmin/DynamicDefence" TargetMode="External"/><Relationship Id="rId4" Type="http://schemas.openxmlformats.org/officeDocument/2006/relationships/hyperlink" Target="https://www.elibrary.ru/item.asp?id=81024053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1.png"/><Relationship Id="rId5" Type="http://schemas.openxmlformats.org/officeDocument/2006/relationships/image" Target="../media/image1.tiff"/><Relationship Id="rId4" Type="http://schemas.openxmlformats.org/officeDocument/2006/relationships/notesSlide" Target="../notesSlides/notesSlid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A96F52-7760-2163-E4CA-6C4355006A2D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0385" y="167445"/>
            <a:ext cx="890270" cy="1009015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A6C0331-1FF4-C108-342E-4F24D8808857}"/>
              </a:ext>
            </a:extLst>
          </p:cNvPr>
          <p:cNvSpPr/>
          <p:nvPr/>
        </p:nvSpPr>
        <p:spPr>
          <a:xfrm rot="10800000" flipV="1">
            <a:off x="1772868" y="1176460"/>
            <a:ext cx="818471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 eaLnBrk="0" fontAlgn="ctr" hangingPunct="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spcAft>
                <a:spcPts val="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Кафедра игровой индустрии </a:t>
            </a:r>
            <a:endParaRPr lang="ru-RU" sz="1400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3CC6A05-983C-FB1D-953E-B2A3915D4B0D}"/>
              </a:ext>
            </a:extLst>
          </p:cNvPr>
          <p:cNvCxnSpPr/>
          <p:nvPr/>
        </p:nvCxnSpPr>
        <p:spPr>
          <a:xfrm>
            <a:off x="2897520" y="2880225"/>
            <a:ext cx="633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2847D77-6D82-C7F5-0167-7C23B09C9935}"/>
              </a:ext>
            </a:extLst>
          </p:cNvPr>
          <p:cNvCxnSpPr/>
          <p:nvPr/>
        </p:nvCxnSpPr>
        <p:spPr>
          <a:xfrm>
            <a:off x="2897520" y="2346825"/>
            <a:ext cx="633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0987767-1385-A977-183B-EB33C6FB7374}"/>
              </a:ext>
            </a:extLst>
          </p:cNvPr>
          <p:cNvSpPr/>
          <p:nvPr/>
        </p:nvSpPr>
        <p:spPr>
          <a:xfrm>
            <a:off x="3260166" y="2947074"/>
            <a:ext cx="5610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165"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ВЫПУСКНАЯ КВАЛИФИКАЦИОННАЯ РАБОТА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DDA1B17-4BE5-04DB-F1A8-48DDCBA86C62}"/>
              </a:ext>
            </a:extLst>
          </p:cNvPr>
          <p:cNvSpPr/>
          <p:nvPr/>
        </p:nvSpPr>
        <p:spPr>
          <a:xfrm>
            <a:off x="609600" y="3316406"/>
            <a:ext cx="10972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165" algn="ctr">
              <a:lnSpc>
                <a:spcPct val="150000"/>
              </a:lnSpc>
              <a:spcAft>
                <a:spcPts val="0"/>
              </a:spcAf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тему: </a:t>
            </a:r>
            <a:r>
              <a:rPr lang="ru-RU" sz="2000" dirty="0">
                <a:latin typeface="Times New Roman" panose="02020603050405020304" pitchFamily="18" charset="0"/>
              </a:rPr>
              <a:t>«Компьютерное приложение — игра в жанре «</a:t>
            </a:r>
            <a:r>
              <a:rPr lang="ru-RU" sz="2000" dirty="0" err="1">
                <a:latin typeface="Times New Roman" panose="02020603050405020304" pitchFamily="18" charset="0"/>
              </a:rPr>
              <a:t>Tower</a:t>
            </a:r>
            <a:r>
              <a:rPr lang="ru-RU" sz="2000" dirty="0">
                <a:latin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</a:rPr>
              <a:t>Defence</a:t>
            </a:r>
            <a:r>
              <a:rPr lang="ru-RU" sz="2000" dirty="0">
                <a:latin typeface="Times New Roman" panose="02020603050405020304" pitchFamily="18" charset="0"/>
              </a:rPr>
              <a:t>» с применением искусственного интеллекта для динамической корректировки сложности»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D815C5F-2D25-F559-8523-0C786CDFC839}"/>
              </a:ext>
            </a:extLst>
          </p:cNvPr>
          <p:cNvSpPr/>
          <p:nvPr/>
        </p:nvSpPr>
        <p:spPr>
          <a:xfrm>
            <a:off x="5204743" y="5406747"/>
            <a:ext cx="6811714" cy="841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Руководитель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ВКР: к.т.н., доцент А.Н. Алпатов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Консультант по экономической части ВКР: к.э.н., доцент О.И. </a:t>
            </a:r>
            <a:r>
              <a:rPr lang="ru-RU" sz="1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Жемерикин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47AB23-5F3F-4D92-2AE6-388F24D09FA2}"/>
              </a:ext>
            </a:extLst>
          </p:cNvPr>
          <p:cNvSpPr txBox="1"/>
          <p:nvPr/>
        </p:nvSpPr>
        <p:spPr>
          <a:xfrm>
            <a:off x="1968434" y="4684742"/>
            <a:ext cx="825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ИКБО-03-21 Ахмин Максим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397586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BC1EA-712D-F967-B648-9C63D9CC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CB6286B-2D25-0D23-382C-BC20462B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2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CF85C6-D969-F4FD-A9C7-29D72BC01050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1CC778-5D77-EC7D-932E-4EC61D04D9EB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Актуальность и новизна темы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BA750-0B5E-ADDC-11FB-2FD8DD818873}"/>
              </a:ext>
            </a:extLst>
          </p:cNvPr>
          <p:cNvSpPr txBox="1"/>
          <p:nvPr/>
        </p:nvSpPr>
        <p:spPr>
          <a:xfrm>
            <a:off x="466802" y="1043588"/>
            <a:ext cx="10456837" cy="449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выбранной темы обоснована стремительным развитием искусственного интеллекта за последнее время. Использование данных технологий в игровой индустрии может привести к разработке успешного продукта.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Новизна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работы заключается в использовании искусственного интеллекта для динамической корректировки сложности игровых параметров в зависимости от мастерства игрока.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Объектом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исследования являются игры в жанре «Tower Defence». 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Предметом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исследования является использование ИИ для динамической корректировки сложности игрового процесса.</a:t>
            </a:r>
          </a:p>
        </p:txBody>
      </p:sp>
    </p:spTree>
    <p:extLst>
      <p:ext uri="{BB962C8B-B14F-4D97-AF65-F5344CB8AC3E}">
        <p14:creationId xmlns:p14="http://schemas.microsoft.com/office/powerpoint/2010/main" val="6124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FC2AC-B58F-9837-EADD-ADF1E23E5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CAA45C2-3177-EE90-682F-3C57F5A9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3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7E250E-B19E-6D9D-A605-F041CE00E787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F4113F-736A-78E2-D395-DB0BD582F807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 и задачи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выпускной квалификационной работы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075B2-62CB-7835-E09A-9157458C3E6E}"/>
              </a:ext>
            </a:extLst>
          </p:cNvPr>
          <p:cNvSpPr txBox="1"/>
          <p:nvPr/>
        </p:nvSpPr>
        <p:spPr>
          <a:xfrm>
            <a:off x="466802" y="1043588"/>
            <a:ext cx="11358852" cy="535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роектирование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игры в жанре 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с применением искусственного интеллекта для динамической корректировки сложности.</a:t>
            </a:r>
            <a:endParaRPr lang="ru-RU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жанра 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гейм-дизайн документ.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Произвести выбор и обоснование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стэка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технологий.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игровой продукт и модуль динамической корректировки сложности.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игровой продукт.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интегрировать в игровой продукт модуль динамической корректировки сложности.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тестирование разработанного продукта.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Осуществить расчет экономической эффективности и стоимость проведения работ.</a:t>
            </a:r>
          </a:p>
        </p:txBody>
      </p:sp>
    </p:spTree>
    <p:extLst>
      <p:ext uri="{BB962C8B-B14F-4D97-AF65-F5344CB8AC3E}">
        <p14:creationId xmlns:p14="http://schemas.microsoft.com/office/powerpoint/2010/main" val="250286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4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666522"/>
              </p:ext>
            </p:extLst>
          </p:nvPr>
        </p:nvGraphicFramePr>
        <p:xfrm>
          <a:off x="356559" y="1264551"/>
          <a:ext cx="10589082" cy="32918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79699">
                  <a:extLst>
                    <a:ext uri="{9D8B030D-6E8A-4147-A177-3AD203B41FA5}">
                      <a16:colId xmlns:a16="http://schemas.microsoft.com/office/drawing/2014/main" val="2160724328"/>
                    </a:ext>
                  </a:extLst>
                </a:gridCol>
                <a:gridCol w="1060560">
                  <a:extLst>
                    <a:ext uri="{9D8B030D-6E8A-4147-A177-3AD203B41FA5}">
                      <a16:colId xmlns:a16="http://schemas.microsoft.com/office/drawing/2014/main" val="948178496"/>
                    </a:ext>
                  </a:extLst>
                </a:gridCol>
                <a:gridCol w="3940319">
                  <a:extLst>
                    <a:ext uri="{9D8B030D-6E8A-4147-A177-3AD203B41FA5}">
                      <a16:colId xmlns:a16="http://schemas.microsoft.com/office/drawing/2014/main" val="463718911"/>
                    </a:ext>
                  </a:extLst>
                </a:gridCol>
                <a:gridCol w="3608504">
                  <a:extLst>
                    <a:ext uri="{9D8B030D-6E8A-4147-A177-3AD203B41FA5}">
                      <a16:colId xmlns:a16="http://schemas.microsoft.com/office/drawing/2014/main" val="3021572347"/>
                    </a:ext>
                  </a:extLst>
                </a:gridCol>
              </a:tblGrid>
              <a:tr h="168412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00" dirty="0">
                          <a:effectLst/>
                        </a:rPr>
                        <a:t>Игра, год выхода</a:t>
                      </a:r>
                      <a:endParaRPr lang="ru-RU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00" dirty="0">
                          <a:effectLst/>
                        </a:rPr>
                        <a:t>Рейтинг</a:t>
                      </a:r>
                      <a:endParaRPr lang="ru-RU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00" dirty="0">
                          <a:effectLst/>
                        </a:rPr>
                        <a:t>Механики</a:t>
                      </a:r>
                      <a:endParaRPr lang="ru-RU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00" dirty="0">
                          <a:effectLst/>
                        </a:rPr>
                        <a:t>Адаптация</a:t>
                      </a:r>
                      <a:r>
                        <a:rPr lang="ru-RU" sz="1600" b="1" kern="100" baseline="0" dirty="0">
                          <a:effectLst/>
                        </a:rPr>
                        <a:t> сложности</a:t>
                      </a:r>
                      <a:endParaRPr lang="ru-RU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extLst>
                  <a:ext uri="{0D108BD9-81ED-4DB2-BD59-A6C34878D82A}">
                    <a16:rowId xmlns:a16="http://schemas.microsoft.com/office/drawing/2014/main" val="1974362435"/>
                  </a:ext>
                </a:extLst>
              </a:tr>
              <a:tr h="356991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u="none" kern="100" dirty="0" err="1">
                          <a:effectLst/>
                        </a:rPr>
                        <a:t>Kingdom</a:t>
                      </a:r>
                      <a:r>
                        <a:rPr lang="ru-RU" sz="1600" u="none" kern="100" dirty="0">
                          <a:effectLst/>
                        </a:rPr>
                        <a:t> </a:t>
                      </a:r>
                      <a:r>
                        <a:rPr lang="ru-RU" sz="1600" u="none" kern="100" dirty="0" err="1">
                          <a:effectLst/>
                        </a:rPr>
                        <a:t>Rush</a:t>
                      </a:r>
                      <a:r>
                        <a:rPr lang="en-US" sz="1600" u="none" kern="100" dirty="0">
                          <a:effectLst/>
                        </a:rPr>
                        <a:t>, 2014</a:t>
                      </a:r>
                      <a:endParaRPr lang="ru-RU" sz="1600" u="none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97%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Фиксированные дорожки, геройские способности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Отсутствует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extLst>
                  <a:ext uri="{0D108BD9-81ED-4DB2-BD59-A6C34878D82A}">
                    <a16:rowId xmlns:a16="http://schemas.microsoft.com/office/drawing/2014/main" val="3871369833"/>
                  </a:ext>
                </a:extLst>
              </a:tr>
              <a:tr h="356991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u="none" kern="100" dirty="0" err="1">
                          <a:effectLst/>
                        </a:rPr>
                        <a:t>Bloons</a:t>
                      </a:r>
                      <a:r>
                        <a:rPr lang="ru-RU" sz="1600" u="none" kern="100" dirty="0">
                          <a:effectLst/>
                        </a:rPr>
                        <a:t> TD 6</a:t>
                      </a:r>
                      <a:r>
                        <a:rPr lang="en-US" sz="1600" u="none" kern="100" dirty="0">
                          <a:effectLst/>
                        </a:rPr>
                        <a:t>, 2018</a:t>
                      </a:r>
                      <a:endParaRPr lang="ru-RU" sz="1600" u="none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97%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Разнообразные башни, </a:t>
                      </a:r>
                      <a:r>
                        <a:rPr lang="ru-RU" sz="1600" kern="100" dirty="0" err="1">
                          <a:effectLst/>
                        </a:rPr>
                        <a:t>кооп</a:t>
                      </a:r>
                      <a:r>
                        <a:rPr lang="ru-RU" sz="1600" kern="100" dirty="0">
                          <a:effectLst/>
                        </a:rPr>
                        <a:t>-режим, случайные модификации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Наличие режимов сложности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extLst>
                  <a:ext uri="{0D108BD9-81ED-4DB2-BD59-A6C34878D82A}">
                    <a16:rowId xmlns:a16="http://schemas.microsoft.com/office/drawing/2014/main" val="4077042161"/>
                  </a:ext>
                </a:extLst>
              </a:tr>
              <a:tr h="356991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u="none" kern="100" dirty="0" err="1">
                          <a:effectLst/>
                        </a:rPr>
                        <a:t>Mindustry</a:t>
                      </a:r>
                      <a:r>
                        <a:rPr lang="en-US" sz="1600" u="none" kern="100" dirty="0">
                          <a:effectLst/>
                        </a:rPr>
                        <a:t>, 2019</a:t>
                      </a:r>
                      <a:endParaRPr lang="ru-RU" sz="1600" u="none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95%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TD + </a:t>
                      </a:r>
                      <a:r>
                        <a:rPr lang="en-US" sz="1600" kern="100" dirty="0" err="1">
                          <a:effectLst/>
                        </a:rPr>
                        <a:t>Строительство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 err="1">
                          <a:effectLst/>
                        </a:rPr>
                        <a:t>базы</a:t>
                      </a:r>
                      <a:r>
                        <a:rPr lang="en-US" sz="1600" kern="100" dirty="0">
                          <a:effectLst/>
                        </a:rPr>
                        <a:t>, </a:t>
                      </a:r>
                      <a:r>
                        <a:rPr lang="en-US" sz="1600" kern="100" dirty="0" err="1">
                          <a:effectLst/>
                        </a:rPr>
                        <a:t>автоматизация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Враги подстраиваются под слабые места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extLst>
                  <a:ext uri="{0D108BD9-81ED-4DB2-BD59-A6C34878D82A}">
                    <a16:rowId xmlns:a16="http://schemas.microsoft.com/office/drawing/2014/main" val="2681335146"/>
                  </a:ext>
                </a:extLst>
              </a:tr>
              <a:tr h="356991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u="none" kern="100" dirty="0" err="1">
                          <a:effectLst/>
                        </a:rPr>
                        <a:t>Infinitode</a:t>
                      </a:r>
                      <a:r>
                        <a:rPr lang="ru-RU" sz="1600" u="none" kern="100" dirty="0">
                          <a:effectLst/>
                        </a:rPr>
                        <a:t> 2</a:t>
                      </a:r>
                      <a:r>
                        <a:rPr lang="en-US" sz="1600" u="none" kern="100" dirty="0">
                          <a:effectLst/>
                        </a:rPr>
                        <a:t>, 2021</a:t>
                      </a:r>
                      <a:endParaRPr lang="ru-RU" sz="1600" u="none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91%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>
                          <a:effectLst/>
                        </a:rPr>
                        <a:t>Свободное размещение башен, сложные механики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Враги получают случайные улучшения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/>
                </a:tc>
                <a:extLst>
                  <a:ext uri="{0D108BD9-81ED-4DB2-BD59-A6C34878D82A}">
                    <a16:rowId xmlns:a16="http://schemas.microsoft.com/office/drawing/2014/main" val="39299296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игровых механик и особенностей жанра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27CEC2-1A4E-DD19-A7A1-E01C00113A33}"/>
              </a:ext>
            </a:extLst>
          </p:cNvPr>
          <p:cNvSpPr txBox="1"/>
          <p:nvPr/>
        </p:nvSpPr>
        <p:spPr>
          <a:xfrm>
            <a:off x="356559" y="849053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1 – Сравнительная характеристика 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аналогов 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разработано автором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559" y="4505212"/>
            <a:ext cx="1126809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Прозрачная структура уровня, направление движения врагов.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Различные типы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врагов и башен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Прогрессия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игрока с течением времени.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сложности с течением времени.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1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/>
          <p:nvPr/>
        </p:nvPicPr>
        <p:blipFill rotWithShape="1">
          <a:blip r:embed="rId2"/>
          <a:srcRect l="6803" t="7856" r="7974" b="8454"/>
          <a:stretch/>
        </p:blipFill>
        <p:spPr bwMode="auto">
          <a:xfrm>
            <a:off x="6072417" y="947891"/>
            <a:ext cx="5714670" cy="33241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4293" y="957719"/>
            <a:ext cx="568147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Жанр: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Tower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аудитория: любители стратегических и тактических игр, поклонники жанра TD.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Платформы: ПК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7CEC2-1A4E-DD19-A7A1-E01C00113A33}"/>
              </a:ext>
            </a:extLst>
          </p:cNvPr>
          <p:cNvSpPr txBox="1"/>
          <p:nvPr/>
        </p:nvSpPr>
        <p:spPr>
          <a:xfrm>
            <a:off x="5891580" y="4199583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Основной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геймплейный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цикл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разработано автором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Гейм-дизайн документ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962" y="4606826"/>
            <a:ext cx="5354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игрока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пережить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наибольшее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врагов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уровне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67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/>
          <p:nvPr/>
        </p:nvPicPr>
        <p:blipFill rotWithShape="1">
          <a:blip r:embed="rId2"/>
          <a:srcRect l="4803" t="2877" r="14907" b="4882"/>
          <a:stretch/>
        </p:blipFill>
        <p:spPr bwMode="auto">
          <a:xfrm>
            <a:off x="2019503" y="309137"/>
            <a:ext cx="7350833" cy="61442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6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27CEC2-1A4E-DD19-A7A1-E01C00113A33}"/>
              </a:ext>
            </a:extLst>
          </p:cNvPr>
          <p:cNvSpPr txBox="1"/>
          <p:nvPr/>
        </p:nvSpPr>
        <p:spPr>
          <a:xfrm>
            <a:off x="2769909" y="6356078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Структурная 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разработано автором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Проектирование игры</a:t>
            </a:r>
          </a:p>
        </p:txBody>
      </p:sp>
    </p:spTree>
    <p:extLst>
      <p:ext uri="{BB962C8B-B14F-4D97-AF65-F5344CB8AC3E}">
        <p14:creationId xmlns:p14="http://schemas.microsoft.com/office/powerpoint/2010/main" val="346565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7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Выбор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стэка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технологий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001156"/>
              </p:ext>
            </p:extLst>
          </p:nvPr>
        </p:nvGraphicFramePr>
        <p:xfrm>
          <a:off x="4874622" y="1736184"/>
          <a:ext cx="6629401" cy="49377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35488">
                  <a:extLst>
                    <a:ext uri="{9D8B030D-6E8A-4147-A177-3AD203B41FA5}">
                      <a16:colId xmlns:a16="http://schemas.microsoft.com/office/drawing/2014/main" val="1144411827"/>
                    </a:ext>
                  </a:extLst>
                </a:gridCol>
                <a:gridCol w="1880302">
                  <a:extLst>
                    <a:ext uri="{9D8B030D-6E8A-4147-A177-3AD203B41FA5}">
                      <a16:colId xmlns:a16="http://schemas.microsoft.com/office/drawing/2014/main" val="667332775"/>
                    </a:ext>
                  </a:extLst>
                </a:gridCol>
                <a:gridCol w="1596882">
                  <a:extLst>
                    <a:ext uri="{9D8B030D-6E8A-4147-A177-3AD203B41FA5}">
                      <a16:colId xmlns:a16="http://schemas.microsoft.com/office/drawing/2014/main" val="1251444533"/>
                    </a:ext>
                  </a:extLst>
                </a:gridCol>
                <a:gridCol w="1616729">
                  <a:extLst>
                    <a:ext uri="{9D8B030D-6E8A-4147-A177-3AD203B41FA5}">
                      <a16:colId xmlns:a16="http://schemas.microsoft.com/office/drawing/2014/main" val="1949659198"/>
                    </a:ext>
                  </a:extLst>
                </a:gridCol>
              </a:tblGrid>
              <a:tr h="14408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</a:t>
                      </a:r>
                      <a:endParaRPr lang="ru-RU" sz="12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Unity</a:t>
                      </a:r>
                      <a:endParaRPr lang="ru-RU" sz="12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Unreal Engine 5</a:t>
                      </a:r>
                      <a:endParaRPr lang="ru-RU" sz="12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Godot</a:t>
                      </a:r>
                      <a:endParaRPr lang="ru-RU" sz="12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556870886"/>
                  </a:ext>
                </a:extLst>
              </a:tr>
              <a:tr h="720398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Лицензия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 до определенного уровня дохода с игры, потом необходимо покупать лицензию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 до определенного уровня дохода с игры, потом необходимо платить процент от дохода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Полностью бесплатно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2561121820"/>
                  </a:ext>
                </a:extLst>
              </a:tr>
              <a:tr h="288159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Языки программирования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C++, Blueprints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GDScript, C#, C++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3436500326"/>
                  </a:ext>
                </a:extLst>
              </a:tr>
              <a:tr h="432239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Производительность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Высокая, но требовательная к ресурсам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2929175866"/>
                  </a:ext>
                </a:extLst>
              </a:tr>
              <a:tr h="144080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Графика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Хорошая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Фотореалистичная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Простая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890181938"/>
                  </a:ext>
                </a:extLst>
              </a:tr>
              <a:tr h="288159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Возможность 2</a:t>
                      </a: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разработки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Отличная поддержка 2</a:t>
                      </a: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Ограниченная поддержка 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Лучшая поддержка 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988255254"/>
                  </a:ext>
                </a:extLst>
              </a:tr>
              <a:tr h="607005"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Сообщество и ресурсы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Большое сообщество, много обучающего материала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большое сообщество, но сложное освоение движка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Маленькое сообщество, небольшое количество ресурсов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7756868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98B4A02-C573-C919-8A34-AF94AD5F35DD}"/>
              </a:ext>
            </a:extLst>
          </p:cNvPr>
          <p:cNvSpPr txBox="1"/>
          <p:nvPr/>
        </p:nvSpPr>
        <p:spPr>
          <a:xfrm>
            <a:off x="4874622" y="1351538"/>
            <a:ext cx="548554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Таблица 2 – Сравнение игровых </a:t>
            </a:r>
            <a:r>
              <a:rPr lang="ru-RU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движков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разработано автором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6802" y="951428"/>
            <a:ext cx="50290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Игровой движок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DDA – ML-Agents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спрайтов 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Photoshop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 кода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8" name="Группа 7"/>
          <p:cNvGrpSpPr/>
          <p:nvPr/>
        </p:nvGrpSpPr>
        <p:grpSpPr>
          <a:xfrm>
            <a:off x="1059709" y="3106818"/>
            <a:ext cx="2587931" cy="2596137"/>
            <a:chOff x="700983" y="3312868"/>
            <a:chExt cx="2587931" cy="2596137"/>
          </a:xfrm>
        </p:grpSpPr>
        <p:pic>
          <p:nvPicPr>
            <p:cNvPr id="3086" name="Picture 14" descr="Picture background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80" r="26788"/>
            <a:stretch/>
          </p:blipFill>
          <p:spPr bwMode="auto">
            <a:xfrm>
              <a:off x="1795394" y="4357042"/>
              <a:ext cx="1493520" cy="1551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4" name="Picture 2" descr="Picture background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64" r="23314"/>
            <a:stretch/>
          </p:blipFill>
          <p:spPr bwMode="auto">
            <a:xfrm>
              <a:off x="700983" y="3312868"/>
              <a:ext cx="1188720" cy="1233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 descr="Picture background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720" y="3327173"/>
              <a:ext cx="1229980" cy="12299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4" name="Picture 12" descr="Picture background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1" t="16580" r="21383" b="23674"/>
            <a:stretch/>
          </p:blipFill>
          <p:spPr bwMode="auto">
            <a:xfrm>
              <a:off x="762000" y="4518660"/>
              <a:ext cx="109728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8C97406-6537-3F70-DCCA-023C95E239B7}"/>
              </a:ext>
            </a:extLst>
          </p:cNvPr>
          <p:cNvSpPr txBox="1"/>
          <p:nvPr/>
        </p:nvSpPr>
        <p:spPr>
          <a:xfrm>
            <a:off x="-697667" y="5437152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Рисунок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Основной инструментарий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51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8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727777"/>
            <a:ext cx="9795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спрайтов 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6096000" y="1807016"/>
            <a:ext cx="6096000" cy="4478131"/>
            <a:chOff x="3957676" y="-1511987"/>
            <a:chExt cx="6096000" cy="447813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27CEC2-1A4E-DD19-A7A1-E01C00113A33}"/>
                </a:ext>
              </a:extLst>
            </p:cNvPr>
            <p:cNvSpPr txBox="1"/>
            <p:nvPr/>
          </p:nvSpPr>
          <p:spPr>
            <a:xfrm>
              <a:off x="3957676" y="2550646"/>
              <a:ext cx="609600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Рисунок 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 Созданные 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спрайты 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разработано автором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]</a:t>
              </a:r>
              <a:endPara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8" name="Рисунок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257752" y="-1511987"/>
              <a:ext cx="5495848" cy="4169325"/>
            </a:xfrm>
            <a:prstGeom prst="rect">
              <a:avLst/>
            </a:prstGeom>
          </p:spPr>
        </p:pic>
      </p:grpSp>
      <p:grpSp>
        <p:nvGrpSpPr>
          <p:cNvPr id="4" name="Группа 3"/>
          <p:cNvGrpSpPr/>
          <p:nvPr/>
        </p:nvGrpSpPr>
        <p:grpSpPr>
          <a:xfrm>
            <a:off x="300076" y="3947312"/>
            <a:ext cx="6096000" cy="2344457"/>
            <a:chOff x="6096000" y="3601337"/>
            <a:chExt cx="6096000" cy="2344457"/>
          </a:xfrm>
        </p:grpSpPr>
        <p:pic>
          <p:nvPicPr>
            <p:cNvPr id="10" name="Рисунок 9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214246" y="3601337"/>
              <a:ext cx="5829263" cy="200477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27CEC2-1A4E-DD19-A7A1-E01C00113A33}"/>
                </a:ext>
              </a:extLst>
            </p:cNvPr>
            <p:cNvSpPr txBox="1"/>
            <p:nvPr/>
          </p:nvSpPr>
          <p:spPr>
            <a:xfrm>
              <a:off x="6096000" y="5530296"/>
              <a:ext cx="609600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Рисунок 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 Игровые 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объекты 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разработано автором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]</a:t>
              </a:r>
              <a:endPara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9150" y="1418212"/>
            <a:ext cx="565785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Спрайты намеренно сделаны черно-белыми, чтобы была возможность менять цвет в движке.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игровые объекты представляются наложением нескольких спрайтов друг на друга.</a:t>
            </a:r>
          </a:p>
        </p:txBody>
      </p:sp>
    </p:spTree>
    <p:extLst>
      <p:ext uri="{BB962C8B-B14F-4D97-AF65-F5344CB8AC3E}">
        <p14:creationId xmlns:p14="http://schemas.microsoft.com/office/powerpoint/2010/main" val="339521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9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727777"/>
            <a:ext cx="9795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игрового уровня</a:t>
            </a:r>
          </a:p>
        </p:txBody>
      </p:sp>
      <p:grpSp>
        <p:nvGrpSpPr>
          <p:cNvPr id="13" name="Группа 12"/>
          <p:cNvGrpSpPr/>
          <p:nvPr/>
        </p:nvGrpSpPr>
        <p:grpSpPr>
          <a:xfrm>
            <a:off x="363390" y="2906592"/>
            <a:ext cx="6435387" cy="3814611"/>
            <a:chOff x="5988405" y="2451506"/>
            <a:chExt cx="6435387" cy="381461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27CEC2-1A4E-DD19-A7A1-E01C00113A33}"/>
                </a:ext>
              </a:extLst>
            </p:cNvPr>
            <p:cNvSpPr txBox="1"/>
            <p:nvPr/>
          </p:nvSpPr>
          <p:spPr>
            <a:xfrm>
              <a:off x="5988405" y="5850619"/>
              <a:ext cx="609600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Рисунок 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6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 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Игровой </a:t>
              </a:r>
              <a:r>
                <a:rPr lang="ru-RU" sz="1400" dirty="0" smtClean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уровень 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разработано автором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]</a:t>
              </a:r>
              <a:endPara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8017" y="2451506"/>
              <a:ext cx="6415775" cy="3495818"/>
            </a:xfrm>
            <a:prstGeom prst="rect">
              <a:avLst/>
            </a:prstGeom>
          </p:spPr>
        </p:pic>
      </p:grpSp>
      <p:grpSp>
        <p:nvGrpSpPr>
          <p:cNvPr id="18" name="Группа 17"/>
          <p:cNvGrpSpPr/>
          <p:nvPr/>
        </p:nvGrpSpPr>
        <p:grpSpPr>
          <a:xfrm>
            <a:off x="7256123" y="723680"/>
            <a:ext cx="4640686" cy="5695072"/>
            <a:chOff x="6008910" y="-807344"/>
            <a:chExt cx="5567892" cy="7010028"/>
          </a:xfrm>
        </p:grpSpPr>
        <p:pic>
          <p:nvPicPr>
            <p:cNvPr id="15" name="Рисунок 14"/>
            <p:cNvPicPr/>
            <p:nvPr/>
          </p:nvPicPr>
          <p:blipFill rotWithShape="1">
            <a:blip r:embed="rId4"/>
            <a:srcRect l="4909" t="3020" r="14300" b="5668"/>
            <a:stretch/>
          </p:blipFill>
          <p:spPr bwMode="auto">
            <a:xfrm>
              <a:off x="6031918" y="2763524"/>
              <a:ext cx="2701927" cy="343916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6" name="Рисунок 15"/>
            <p:cNvPicPr/>
            <p:nvPr/>
          </p:nvPicPr>
          <p:blipFill rotWithShape="1">
            <a:blip r:embed="rId5"/>
            <a:srcRect l="8043" t="5337" r="13957" b="8041"/>
            <a:stretch/>
          </p:blipFill>
          <p:spPr bwMode="auto">
            <a:xfrm>
              <a:off x="8860354" y="2761453"/>
              <a:ext cx="2716448" cy="344123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7" name="Рисунок 16"/>
            <p:cNvPicPr/>
            <p:nvPr/>
          </p:nvPicPr>
          <p:blipFill rotWithShape="1">
            <a:blip r:embed="rId6"/>
            <a:srcRect l="9652" t="4137" r="19121" b="8333"/>
            <a:stretch/>
          </p:blipFill>
          <p:spPr bwMode="auto">
            <a:xfrm>
              <a:off x="6008910" y="-807344"/>
              <a:ext cx="2724933" cy="344123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E27CEC2-1A4E-DD19-A7A1-E01C00113A33}"/>
              </a:ext>
            </a:extLst>
          </p:cNvPr>
          <p:cNvSpPr txBox="1"/>
          <p:nvPr/>
        </p:nvSpPr>
        <p:spPr>
          <a:xfrm>
            <a:off x="6632906" y="6330891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UI</a:t>
            </a:r>
            <a:r>
              <a:rPr lang="ru-RU" sz="1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-панели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разработано автором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6890" y="1357962"/>
            <a:ext cx="62259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нового уровня осуществляется посредством задания нового маршрута, а также путём перемещения и изменения количества платформ. </a:t>
            </a:r>
          </a:p>
        </p:txBody>
      </p:sp>
    </p:spTree>
    <p:extLst>
      <p:ext uri="{BB962C8B-B14F-4D97-AF65-F5344CB8AC3E}">
        <p14:creationId xmlns:p14="http://schemas.microsoft.com/office/powerpoint/2010/main" val="255444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10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727777"/>
            <a:ext cx="9795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интерфейсных сцен</a:t>
            </a:r>
          </a:p>
        </p:txBody>
      </p:sp>
      <p:grpSp>
        <p:nvGrpSpPr>
          <p:cNvPr id="9" name="Группа 8"/>
          <p:cNvGrpSpPr/>
          <p:nvPr/>
        </p:nvGrpSpPr>
        <p:grpSpPr>
          <a:xfrm>
            <a:off x="333441" y="3713608"/>
            <a:ext cx="5422084" cy="2994618"/>
            <a:chOff x="323927" y="3010434"/>
            <a:chExt cx="6096000" cy="33668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27CEC2-1A4E-DD19-A7A1-E01C00113A33}"/>
                </a:ext>
              </a:extLst>
            </p:cNvPr>
            <p:cNvSpPr txBox="1"/>
            <p:nvPr/>
          </p:nvSpPr>
          <p:spPr>
            <a:xfrm>
              <a:off x="323927" y="5910114"/>
              <a:ext cx="6096000" cy="4671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Рисунок 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9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 Стартовая 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сцена 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разработано автором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]</a:t>
              </a:r>
              <a:endPara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3" name="Рисунок 12"/>
            <p:cNvPicPr/>
            <p:nvPr/>
          </p:nvPicPr>
          <p:blipFill rotWithShape="1">
            <a:blip r:embed="rId4"/>
            <a:srcRect t="1960" r="1110" b="2274"/>
            <a:stretch/>
          </p:blipFill>
          <p:spPr bwMode="auto">
            <a:xfrm>
              <a:off x="435370" y="3010434"/>
              <a:ext cx="5873115" cy="301244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E27CEC2-1A4E-DD19-A7A1-E01C00113A33}"/>
              </a:ext>
            </a:extLst>
          </p:cNvPr>
          <p:cNvSpPr txBox="1"/>
          <p:nvPr/>
        </p:nvSpPr>
        <p:spPr>
          <a:xfrm>
            <a:off x="6220882" y="6292728"/>
            <a:ext cx="54437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</a:t>
            </a:r>
            <a:r>
              <a:rPr lang="ru-RU" sz="1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Сцена 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меню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разработано автором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0" name="Группа 19"/>
          <p:cNvGrpSpPr/>
          <p:nvPr/>
        </p:nvGrpSpPr>
        <p:grpSpPr>
          <a:xfrm>
            <a:off x="5266193" y="660353"/>
            <a:ext cx="6178616" cy="2917764"/>
            <a:chOff x="5150372" y="658810"/>
            <a:chExt cx="5443796" cy="2570755"/>
          </a:xfrm>
        </p:grpSpPr>
        <p:pic>
          <p:nvPicPr>
            <p:cNvPr id="18" name="Рисунок 17"/>
            <p:cNvPicPr/>
            <p:nvPr/>
          </p:nvPicPr>
          <p:blipFill rotWithShape="1">
            <a:blip r:embed="rId5"/>
            <a:srcRect l="1764" t="6852" r="2031" b="3178"/>
            <a:stretch/>
          </p:blipFill>
          <p:spPr bwMode="auto">
            <a:xfrm>
              <a:off x="5581508" y="658810"/>
              <a:ext cx="4581525" cy="230603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E27CEC2-1A4E-DD19-A7A1-E01C00113A33}"/>
                </a:ext>
              </a:extLst>
            </p:cNvPr>
            <p:cNvSpPr txBox="1"/>
            <p:nvPr/>
          </p:nvSpPr>
          <p:spPr>
            <a:xfrm>
              <a:off x="5150372" y="2863482"/>
              <a:ext cx="5443796" cy="366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Рисунок 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8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 Граф переходов между 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сценами 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разработано автором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]</a:t>
              </a:r>
              <a:endPara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66802" y="1369106"/>
            <a:ext cx="51810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Фоном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стартовой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сцены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выступает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игрового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котором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размещены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башен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враги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периодически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появляются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экране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125" y="3719483"/>
            <a:ext cx="5259309" cy="268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4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11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727777"/>
            <a:ext cx="9795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модуля динамической корректировки сложности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802" y="1265796"/>
            <a:ext cx="6262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1950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Изменяемые игровые параметры: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врагов (от -1 до 1).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Награда за успешное выполнение волны (от -5 до 5).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Множитель силы врагов (от -0.2 до 0.2).</a:t>
            </a:r>
          </a:p>
        </p:txBody>
      </p:sp>
      <p:grpSp>
        <p:nvGrpSpPr>
          <p:cNvPr id="9" name="Группа 8"/>
          <p:cNvGrpSpPr/>
          <p:nvPr/>
        </p:nvGrpSpPr>
        <p:grpSpPr>
          <a:xfrm>
            <a:off x="799493" y="3204788"/>
            <a:ext cx="6096000" cy="3449549"/>
            <a:chOff x="2055812" y="2954282"/>
            <a:chExt cx="6096000" cy="344954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27CEC2-1A4E-DD19-A7A1-E01C00113A33}"/>
                </a:ext>
              </a:extLst>
            </p:cNvPr>
            <p:cNvSpPr txBox="1"/>
            <p:nvPr/>
          </p:nvSpPr>
          <p:spPr>
            <a:xfrm>
              <a:off x="2055812" y="5988333"/>
              <a:ext cx="609600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Рисунок </a:t>
              </a:r>
              <a:r>
                <a:rPr lang="ru-RU" sz="1400" dirty="0" smtClean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11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 Результаты 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обучения 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разработано автором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]</a:t>
              </a:r>
              <a:endPara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3" name="Рисунок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133600" y="2954282"/>
              <a:ext cx="5940425" cy="3122295"/>
            </a:xfrm>
            <a:prstGeom prst="rect">
              <a:avLst/>
            </a:prstGeom>
          </p:spPr>
        </p:pic>
      </p:grpSp>
      <p:grpSp>
        <p:nvGrpSpPr>
          <p:cNvPr id="17" name="Группа 16"/>
          <p:cNvGrpSpPr/>
          <p:nvPr/>
        </p:nvGrpSpPr>
        <p:grpSpPr>
          <a:xfrm>
            <a:off x="7704840" y="1232163"/>
            <a:ext cx="3569290" cy="5555918"/>
            <a:chOff x="8257290" y="923702"/>
            <a:chExt cx="3569290" cy="5555918"/>
          </a:xfrm>
        </p:grpSpPr>
        <p:pic>
          <p:nvPicPr>
            <p:cNvPr id="15" name="Рисунок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8356877" y="923702"/>
              <a:ext cx="3354048" cy="509155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E27CEC2-1A4E-DD19-A7A1-E01C00113A33}"/>
                </a:ext>
              </a:extLst>
            </p:cNvPr>
            <p:cNvSpPr txBox="1"/>
            <p:nvPr/>
          </p:nvSpPr>
          <p:spPr>
            <a:xfrm>
              <a:off x="8257290" y="5956400"/>
              <a:ext cx="356929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Рисунок </a:t>
              </a:r>
              <a:r>
                <a:rPr lang="en-US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 </a:t>
              </a:r>
              <a:r>
                <a:rPr lang="ru-RU" sz="1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– Конфигурация </a:t>
              </a:r>
              <a:r>
                <a:rPr lang="ru-RU" sz="1400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обучения 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[</a:t>
              </a:r>
              <a:r>
                <a:rPr lang="ru-RU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разработано автором</a:t>
              </a:r>
              <a:r>
                <a: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]</a:t>
              </a:r>
              <a:endPara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268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12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5825" y="1638300"/>
            <a:ext cx="3257550" cy="200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09549" y="838200"/>
            <a:ext cx="1005260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1950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Минимальные системные требования для ПК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Операционная система: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7/8/10/11 64-бит.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Celeron 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1840,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AMD 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6-9500 или лучше (2+ ядер, 2.0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Оперативная память: 256 МБ ОЗУ.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Видеокарта: Совместимая с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или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OpenGL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3.3, с минимум 256 МБ видеопамяти.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Место на диске: 150 МБ свободного места.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13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13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27CEC2-1A4E-DD19-A7A1-E01C00113A33}"/>
              </a:ext>
            </a:extLst>
          </p:cNvPr>
          <p:cNvSpPr txBox="1"/>
          <p:nvPr/>
        </p:nvSpPr>
        <p:spPr>
          <a:xfrm>
            <a:off x="2966605" y="6418539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</a:t>
            </a:r>
            <a:r>
              <a:rPr lang="ru-RU" sz="1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Ганта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разработано автором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Экономический раздел</a:t>
            </a:r>
          </a:p>
        </p:txBody>
      </p:sp>
      <p:pic>
        <p:nvPicPr>
          <p:cNvPr id="7" name="Рисунок 6" descr="C:\Users\maxak\Downloads\Dynamic Defence_page-0001.jp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19" b="12652"/>
          <a:stretch/>
        </p:blipFill>
        <p:spPr bwMode="auto">
          <a:xfrm>
            <a:off x="1319705" y="676283"/>
            <a:ext cx="9389799" cy="58051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3815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14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27CEC2-1A4E-DD19-A7A1-E01C00113A33}"/>
              </a:ext>
            </a:extLst>
          </p:cNvPr>
          <p:cNvSpPr txBox="1"/>
          <p:nvPr/>
        </p:nvSpPr>
        <p:spPr>
          <a:xfrm>
            <a:off x="2870868" y="6292733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Структура 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затрат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разработано автором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Экономический раздел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337671"/>
              </p:ext>
            </p:extLst>
          </p:nvPr>
        </p:nvGraphicFramePr>
        <p:xfrm>
          <a:off x="466802" y="1222241"/>
          <a:ext cx="10515599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361683957"/>
                    </a:ext>
                  </a:extLst>
                </a:gridCol>
                <a:gridCol w="4962525">
                  <a:extLst>
                    <a:ext uri="{9D8B030D-6E8A-4147-A177-3AD203B41FA5}">
                      <a16:colId xmlns:a16="http://schemas.microsoft.com/office/drawing/2014/main" val="2143082936"/>
                    </a:ext>
                  </a:extLst>
                </a:gridCol>
                <a:gridCol w="2291213">
                  <a:extLst>
                    <a:ext uri="{9D8B030D-6E8A-4147-A177-3AD203B41FA5}">
                      <a16:colId xmlns:a16="http://schemas.microsoft.com/office/drawing/2014/main" val="2912816167"/>
                    </a:ext>
                  </a:extLst>
                </a:gridCol>
                <a:gridCol w="2385561">
                  <a:extLst>
                    <a:ext uri="{9D8B030D-6E8A-4147-A177-3AD203B41FA5}">
                      <a16:colId xmlns:a16="http://schemas.microsoft.com/office/drawing/2014/main" val="1409548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№ п/п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Номенклатура статей расходов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Затраты (руб.)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Доля затрат, %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6213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Сырье и материалы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4 841,50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0,8%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9058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Основная заработная п</a:t>
                      </a:r>
                      <a:r>
                        <a:rPr lang="en-US" sz="2000" dirty="0" err="1">
                          <a:effectLst/>
                        </a:rPr>
                        <a:t>лата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214 113,71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36,4%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3766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Дополнительная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заработная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плата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42 822,74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7,3%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9701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Страховые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взносы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77 594,81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13,2%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920881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Амортизация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13 333,30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2,3%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8605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Прочие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расходы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235 525,08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40,0%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671163"/>
                  </a:ext>
                </a:extLst>
              </a:tr>
              <a:tr h="48895">
                <a:tc gridSpan="2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Итого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</a:rPr>
                        <a:t>588 231,15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</a:rPr>
                        <a:t>100,0%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0956442"/>
                  </a:ext>
                </a:extLst>
              </a:tr>
            </a:tbl>
          </a:graphicData>
        </a:graphic>
      </p:graphicFrame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l="2033" t="6089" b="5127"/>
          <a:stretch/>
        </p:blipFill>
        <p:spPr>
          <a:xfrm>
            <a:off x="2611459" y="3923844"/>
            <a:ext cx="6614819" cy="24322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27CEC2-1A4E-DD19-A7A1-E01C00113A33}"/>
              </a:ext>
            </a:extLst>
          </p:cNvPr>
          <p:cNvSpPr txBox="1"/>
          <p:nvPr/>
        </p:nvSpPr>
        <p:spPr>
          <a:xfrm>
            <a:off x="466802" y="778216"/>
            <a:ext cx="609600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Таблица 3 – Полная себестоимость работ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29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15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Результаты выпускной квалификационной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5825" y="1638300"/>
            <a:ext cx="3257550" cy="200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35946" y="761166"/>
            <a:ext cx="1171321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анализ предметной области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гейм-дизайн документ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 и обоснован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стэк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технологий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 и разработан игровой продукт и модуль динамической корректировки сложности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тестирование разработанного продукта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Рассчитана экономическая эффективность и стоимость проведения работ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Оформлена пояснительная записка согласно ГОСТ 7.32-2017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Пройдена апробация в форме публикации статьи «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искусственного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динамической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корректировки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игры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https://www.elibrary.ru/item.asp?id=81024053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ru-RU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код и итоговые сборки доступны по ссылке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https://github.com/maximakhmin/DynamicDefence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252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B7D383-87EC-4E19-9B9C-7B22F46D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6278" y="6356078"/>
            <a:ext cx="2743200" cy="365125"/>
          </a:xfrm>
        </p:spPr>
        <p:txBody>
          <a:bodyPr/>
          <a:lstStyle/>
          <a:p>
            <a:fld id="{D89FAD59-1404-453B-9FF4-6E985CA07D28}" type="slidenum">
              <a:rPr lang="ru-RU" smtClean="0"/>
              <a:t>16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7A8DF9-B0DC-A087-EF5D-CEC5BDDA3AD1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8888" y="136797"/>
            <a:ext cx="890270" cy="10090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9203EE-93A0-FD91-8279-3380CB1AF499}"/>
              </a:ext>
            </a:extLst>
          </p:cNvPr>
          <p:cNvSpPr txBox="1"/>
          <p:nvPr/>
        </p:nvSpPr>
        <p:spPr>
          <a:xfrm>
            <a:off x="466802" y="237946"/>
            <a:ext cx="9795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Результаты выпускной квалификационной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5825" y="1638300"/>
            <a:ext cx="3257550" cy="200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7" name="DynamicDefence 2025-06-02 20-08-43 (online-video-cutter.com)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6802" y="813264"/>
            <a:ext cx="10412900" cy="58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7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3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15517"/>
            <a:ext cx="10515600" cy="6026966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b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 окончен</a:t>
            </a:r>
          </a:p>
        </p:txBody>
      </p:sp>
    </p:spTree>
    <p:extLst>
      <p:ext uri="{BB962C8B-B14F-4D97-AF65-F5344CB8AC3E}">
        <p14:creationId xmlns:p14="http://schemas.microsoft.com/office/powerpoint/2010/main" val="6181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7414</TotalTime>
  <Words>1013</Words>
  <Application>Microsoft Office PowerPoint</Application>
  <PresentationFormat>Широкоэкранный</PresentationFormat>
  <Paragraphs>201</Paragraphs>
  <Slides>17</Slides>
  <Notes>4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  Доклад окончен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Братусь</dc:creator>
  <cp:lastModifiedBy>Максим Ахмин</cp:lastModifiedBy>
  <cp:revision>312</cp:revision>
  <dcterms:created xsi:type="dcterms:W3CDTF">2019-06-21T14:40:49Z</dcterms:created>
  <dcterms:modified xsi:type="dcterms:W3CDTF">2025-06-03T12:33:01Z</dcterms:modified>
</cp:coreProperties>
</file>